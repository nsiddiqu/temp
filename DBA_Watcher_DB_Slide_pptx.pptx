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12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7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548640"/>
            <a:ext cx="1645920" cy="164592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914400"/>
            <a:ext cx="2011680" cy="2011680"/>
          </a:xfrm>
          <a:prstGeom prst="ellipse">
            <a:avLst/>
          </a:prstGeom>
          <a:solidFill>
            <a:srgbClr val="00838F">
              <a:alpha val="15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Watcher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Monitoring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Collection &amp; Alerting Overview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965960" cy="777240"/>
          </a:xfrm>
          <a:prstGeom prst="rect">
            <a:avLst/>
          </a:prstGeom>
          <a:solidFill>
            <a:srgbClr val="1E88E5">
              <a:alpha val="25000"/>
            </a:srgbClr>
          </a:solidFill>
          <a:ln w="63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0416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Inventory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Instances Monitored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33472" y="4023360"/>
            <a:ext cx="1965960" cy="777240"/>
          </a:xfrm>
          <a:prstGeom prst="rect">
            <a:avLst/>
          </a:prstGeom>
          <a:solidFill>
            <a:srgbClr val="1E88E5">
              <a:alpha val="25000"/>
            </a:srgbClr>
          </a:solidFill>
          <a:ln w="63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33472" y="40416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33472" y="4389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Collection Jobs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9744" y="4023360"/>
            <a:ext cx="1965960" cy="777240"/>
          </a:xfrm>
          <a:prstGeom prst="rect">
            <a:avLst/>
          </a:prstGeom>
          <a:solidFill>
            <a:srgbClr val="1E88E5">
              <a:alpha val="25000"/>
            </a:srgbClr>
          </a:solidFill>
          <a:ln w="63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40416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Alert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9744" y="4389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Jobs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86016" y="4023360"/>
            <a:ext cx="1965960" cy="777240"/>
          </a:xfrm>
          <a:prstGeom prst="rect">
            <a:avLst/>
          </a:prstGeom>
          <a:solidFill>
            <a:srgbClr val="1E88E5">
              <a:alpha val="25000"/>
            </a:srgbClr>
          </a:solidFill>
          <a:ln w="635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86016" y="40416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86016" y="43891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pipeline from SQL inventory to DBA alerts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5E35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64592" cy="65836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88136"/>
            <a:ext cx="402336" cy="402336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Inventory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298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  |  Config.SQL_Inventory + Settings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618488"/>
            <a:ext cx="0" cy="109728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65760" y="1728216"/>
            <a:ext cx="841248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28216"/>
            <a:ext cx="16459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856232"/>
            <a:ext cx="402336" cy="40233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18196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Collection Jobs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20665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 Server Agent Jobs  |  Invoke-SQLCMD → all monitored instances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386584"/>
            <a:ext cx="0" cy="109728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65760" y="2496312"/>
            <a:ext cx="841248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96312"/>
            <a:ext cx="164592" cy="65836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624328"/>
            <a:ext cx="402336" cy="402336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2587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— Scratch &amp; Baseline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2834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DBA_Watcher_DB_TempDB  |  Scratch + Baseline schemas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3154680"/>
            <a:ext cx="0" cy="109728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65760" y="3264408"/>
            <a:ext cx="8412480" cy="658368"/>
          </a:xfrm>
          <a:prstGeom prst="rect">
            <a:avLst/>
          </a:prstGeom>
          <a:solidFill>
            <a:srgbClr val="E0F7FA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64408"/>
            <a:ext cx="164592" cy="65836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392424"/>
            <a:ext cx="402336" cy="402336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" y="3355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36027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  |  General · Daily · Baseline · Manual schemas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3922776"/>
            <a:ext cx="0" cy="109728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365760" y="4032504"/>
            <a:ext cx="8412480" cy="658368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032504"/>
            <a:ext cx="164592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160520"/>
            <a:ext cx="402336" cy="40233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15568" y="41239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Jobs → Notifications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15568" y="4370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SQL Server Agent Alert Jobs  |  Email to on-call DBA  |  Alert_History audit log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Configuration &amp; Inventory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 is the central hub. The Config schema defines every SQL instance to be monitored; Settings provides credentials and on-call routing; External holds patch schedules from outside systems.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E35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743200" cy="38404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schema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965960"/>
            <a:ext cx="2523744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SQL_Inventory — master list of all SQL instances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Azure_Inventory — Azure SQL sources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MongoDB_Inventory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SQL_Inventory_VMProperties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SQL_Inventory_Domain / Backup / ASK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schema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01568" y="1965960"/>
            <a:ext cx="2523744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— team credentials (SQL + Windows)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 — on-call DBA email + schedule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Monitoring_Override — suppress per instance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Alert_Override — threshold overrides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 — data retention rules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743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274320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schema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1965960"/>
            <a:ext cx="2523744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Patching_Windows — maintenance schedules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MNA_Diskspace — external disk data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Patching_Diplomat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SQL_PatchLevel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view: dbo.Inventory_All_Server joins SQL_Inventory + Settings.General to provide a single credential-enriched server list used by all PowerShell collection jobs.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PowerShell Collection Jobs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Agent fires 15 PowerShell jobs on schedule. Each job uses Invoke-SQLCMD to remotely connect to every enabled instance in Config.SQL_Inventory and pull metrics.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42062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SQLStats — CPU / Memory / Usage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[PowerShell] Daily — Wait stats, Worst performing queries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SQLStats_CPU / SQLStats_Memory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651760"/>
            <a:ext cx="4206240" cy="3200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Logins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SQLSessions — Active sessions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SQLSessions_Catalog — Session catalog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SQLServer Logins — Login audit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794760"/>
            <a:ext cx="420624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Health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SQLDatabase_Details — DB metadata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SQLDatabase_AlwaysOn — AG 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SQLDatabase_Backup — Backup history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SQLDatabase_File_Details — File space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5087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508760"/>
            <a:ext cx="4206240" cy="3200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&amp; Jobs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1856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SQLInstances_Detail — Instance config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SQLAgentJobs — Agent job 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SQLDefault_Trace — Trace &amp; error 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6517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A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651760"/>
            <a:ext cx="4206240" cy="3200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VMware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999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SQLXevent_Deadlocks — Deadlocks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SQLXevent_FailedQueries — Failures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VmWareMetrics — vSphere VM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Invoke-SQLCMD  →  Remote SQL instance  →  Query DMVs / XEvents / Agent tables  →  Return dataset  →  Insert into DBA_Watcher_DB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&amp; ④  Staging &amp; Persistent Storage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DBA_Watcher_DB_TempDB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schema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SQL_Statistics_CPU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SQL_Statistics_Memory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SQL_Statistics_Usage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SQL_Sessions_Details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VMWareVMMetrics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schema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609344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SQL_Database_Details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SQL_Instances_Details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SQL_Statistics_Usage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SQL_Enabled_Check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Pager_load / DailyVolume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SQL_Sessions_Login_History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3749040" cy="27432"/>
          </a:xfrm>
          <a:prstGeom prst="rect">
            <a:avLst/>
          </a:prstGeom>
          <a:solidFill>
            <a:srgbClr val="FFE082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3464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intermediate workspace. Raw data written here first, then cleaned and promoted to the persistent DBA_Watcher_DB tables. Baseline schema provides the historical normal for alert thresholds.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 — Persistent Schemas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931920" cy="621792"/>
          </a:xfrm>
          <a:prstGeom prst="rect">
            <a:avLst/>
          </a:prstGeom>
          <a:solidFill>
            <a:srgbClr val="E0F7FA"/>
          </a:solidFill>
          <a:ln w="9525">
            <a:solidFill>
              <a:srgbClr val="0083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137160" cy="62179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37160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40817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CPU/Mem/Usage history · Session history · AlwaysOn · Backup history · XEvents · VMware history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2075688"/>
            <a:ext cx="3931920" cy="621792"/>
          </a:xfrm>
          <a:prstGeom prst="rect">
            <a:avLst/>
          </a:prstGeom>
          <a:solidFill>
            <a:srgbClr val="E0F7FA"/>
          </a:solidFill>
          <a:ln w="9525">
            <a:solidFill>
              <a:srgbClr val="0097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075688"/>
            <a:ext cx="137160" cy="6217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07568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1122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WaitStats · WorstPerforming · Missing Index · OS Info · Logins · XEvent Config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2779776"/>
            <a:ext cx="3931920" cy="621792"/>
          </a:xfrm>
          <a:prstGeom prst="rect">
            <a:avLst/>
          </a:prstGeom>
          <a:solidFill>
            <a:srgbClr val="E0F7FA"/>
          </a:solidFill>
          <a:ln w="9525">
            <a:solidFill>
              <a:srgbClr val="00AC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779776"/>
            <a:ext cx="137160" cy="62179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77977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8163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CPU/Mem/Usage baseline snapshots used by alert jobs for comparison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3483864"/>
            <a:ext cx="3931920" cy="621792"/>
          </a:xfrm>
          <a:prstGeom prst="rect">
            <a:avLst/>
          </a:prstGeom>
          <a:solidFill>
            <a:srgbClr val="E0F7FA"/>
          </a:solidFill>
          <a:ln w="9525">
            <a:solidFill>
              <a:srgbClr val="26C6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483864"/>
            <a:ext cx="137160" cy="621792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48386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3520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Index · QueryStore · DB Table — collected on demand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4187952"/>
            <a:ext cx="3931920" cy="621792"/>
          </a:xfrm>
          <a:prstGeom prst="rect">
            <a:avLst/>
          </a:prstGeom>
          <a:solidFill>
            <a:srgbClr val="E0F7FA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4187952"/>
            <a:ext cx="137160" cy="621792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18795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42245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Alert_History — full audit log of every alert sent, time, target, body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89120" y="2944368"/>
            <a:ext cx="36576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4315968" y="2807208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Alert Jobs &amp; Notifications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SQL Server Agent alert jobs run on schedule, query the persistent tables, compare against thresholds and baselines, and email the on-call DBA when conditions are breached.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743200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46304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Stats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179222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usage vs baseline threshold. Detects sustained resource pressure.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64408" y="14630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463040"/>
            <a:ext cx="2743200" cy="3017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6304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Sessions Alerts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179222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Blocking, long-running sessions, login anomalies.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08776" y="14630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463040"/>
            <a:ext cx="2743200" cy="3017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46304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Database Alerts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81928" y="179222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state changes, growth, AlwaysOn sync issues.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14600"/>
            <a:ext cx="2743200" cy="30175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51460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Log Space Used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" y="284378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 space nearing full on any monitored DB.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64408" y="251460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53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2514600"/>
            <a:ext cx="2743200" cy="3017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51460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Missing Log Backup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284378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backup gap exceeding defined SLA window.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08776" y="251460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73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2514600"/>
            <a:ext cx="2743200" cy="301752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51460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DBCC Workday Check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81928" y="284378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DBCC integrity check results flagged during workday.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56616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A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566160"/>
            <a:ext cx="2743200" cy="301752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56616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Error Log Alerts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" y="389534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17+ errors, corruption messages in SQL error log.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4408" y="356616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64408" y="3566160"/>
            <a:ext cx="2743200" cy="3017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56616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Job Alert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389534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SQL Agent jobs on any monitored instance.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08776" y="356616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08776" y="3566160"/>
            <a:ext cx="2743200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356616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Instances Details Alerts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81928" y="3895344"/>
            <a:ext cx="2596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config drift, service restarts, failovers.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 →  Insert into Notifications.Alert_History  →  Read Settings.Pager for on-call DBA  →  Send email via Database Mail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 inventory to DBA notification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05840" cy="100584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read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Config.SQL_Inventory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828800"/>
            <a:ext cx="106680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661160" y="1325880"/>
            <a:ext cx="1005840" cy="10058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116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6972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job fires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6972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Agent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12720" y="1828800"/>
            <a:ext cx="106680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865120" y="1325880"/>
            <a:ext cx="1005840" cy="1005840"/>
          </a:xfrm>
          <a:prstGeom prst="ellipse">
            <a:avLst/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512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7368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collect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7368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Invoke-SQLCMD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16680" y="1828800"/>
            <a:ext cx="106680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069080" y="1325880"/>
            <a:ext cx="1005840" cy="100584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7764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data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 Scratch/Baseline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20640" y="1828800"/>
            <a:ext cx="106680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5273040" y="1325880"/>
            <a:ext cx="1005840" cy="100584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304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8160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8160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24600" y="1828800"/>
            <a:ext cx="106680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477000" y="1325880"/>
            <a:ext cx="1005840" cy="100584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700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8556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job evaluates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8556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threshold/baseline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528560" y="1828800"/>
            <a:ext cx="106680" cy="0"/>
          </a:xfrm>
          <a:prstGeom prst="line">
            <a:avLst/>
          </a:prstGeom>
          <a:noFill/>
          <a:ln w="19050">
            <a:solidFill>
              <a:srgbClr val="90CAF9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7680960" y="1325880"/>
            <a:ext cx="1005840" cy="10058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58952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8952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→ on-call DBA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200400"/>
            <a:ext cx="822960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90CA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361188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monitoring server — zero impact on production SQL instances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in TempDB — raw data cleaned before persisting, reducing lock contention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schema — alert thresholds adapt to each instance's normal behaviour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audit trail — every notification logged with timestamp, target, and full message body in Notifications.Alert_History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routing — Settings.Pager drives email distribution with time-of-day awareness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08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Collection jobs — </a:t>
            </a: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performance stats, sessions, DB health, backups, AlwaysOn, agent jobs, traces, XEvents, and VMware metrics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Monitoring databases — </a:t>
            </a: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 (configuration + persistent storage) and DBA_Watcher_DB_TempDB (staging and baselines)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88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Alert jobs — </a:t>
            </a: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collected data against baselines and thresholds on a continuous schedule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93008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290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— </a:t>
            </a: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notification persisted to Notifications.Alert_History with target, method, and message body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133088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069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routing — </a:t>
            </a: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DBA determined automatically via Settings.Pager time-of-day schedule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913</Words>
  <Application>Microsoft Office PowerPoint</Application>
  <PresentationFormat>On-screen Show (16:9)</PresentationFormat>
  <Paragraphs>165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DBA Watcher — SQL Server Monitoring Architecture</dc:title>
  <dc:subject>PptxGenJS Presentation</dc:subject>
  <dc:creator>PptxGenJS</dc:creator>
  <cp:lastModifiedBy>Hamdan</cp:lastModifiedBy>
  <cp:revision>3</cp:revision>
  <dcterms:created xsi:type="dcterms:W3CDTF">2026-06-07T04:12:13Z</dcterms:created>
  <dcterms:modified xsi:type="dcterms:W3CDTF">2026-06-08T14:33:10Z</dcterms:modified>
</cp:coreProperties>
</file>