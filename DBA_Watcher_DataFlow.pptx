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54864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Watcher  —  SQL Server Monitoring Data Flow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228600" y="402336"/>
            <a:ext cx="1170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Collection  ·  Grafana Visualization  ·  Threshold Alerting  ·  ServiceNow Incident Creation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64592" y="676656"/>
            <a:ext cx="1664208" cy="5321808"/>
          </a:xfrm>
          <a:prstGeom prst="rect">
            <a:avLst/>
          </a:prstGeom>
          <a:solidFill>
            <a:srgbClr val="0C1D30"/>
          </a:solidFill>
          <a:ln w="9525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676656"/>
            <a:ext cx="1664208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67665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SQL Servers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060704"/>
            <a:ext cx="1481328" cy="786384"/>
          </a:xfrm>
          <a:prstGeom prst="rect">
            <a:avLst/>
          </a:prstGeom>
          <a:solidFill>
            <a:srgbClr val="152840"/>
          </a:solidFill>
          <a:ln w="6350">
            <a:solidFill>
              <a:srgbClr val="42A5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133856"/>
            <a:ext cx="237744" cy="109728"/>
          </a:xfrm>
          <a:prstGeom prst="ellipse">
            <a:avLst/>
          </a:prstGeom>
          <a:solidFill>
            <a:srgbClr val="1E88E5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1188720"/>
            <a:ext cx="237744" cy="256032"/>
          </a:xfrm>
          <a:prstGeom prst="rect">
            <a:avLst/>
          </a:prstGeom>
          <a:solidFill>
            <a:srgbClr val="0E3560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" y="1380744"/>
            <a:ext cx="237744" cy="109728"/>
          </a:xfrm>
          <a:prstGeom prst="ellipse">
            <a:avLst/>
          </a:prstGeom>
          <a:solidFill>
            <a:srgbClr val="1E88E5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13385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Instance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85216" y="1408176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6032" y="1655064"/>
            <a:ext cx="475488" cy="146304"/>
          </a:xfrm>
          <a:prstGeom prst="rect">
            <a:avLst/>
          </a:prstGeom>
          <a:solidFill>
            <a:srgbClr val="0A2240"/>
          </a:solidFill>
          <a:ln w="3810">
            <a:solidFill>
              <a:srgbClr val="42A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65506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CPU/Mem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777240" y="1655064"/>
            <a:ext cx="475488" cy="146304"/>
          </a:xfrm>
          <a:prstGeom prst="rect">
            <a:avLst/>
          </a:prstGeom>
          <a:solidFill>
            <a:srgbClr val="0A2240"/>
          </a:solidFill>
          <a:ln w="3810">
            <a:solidFill>
              <a:srgbClr val="42A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165506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1298448" y="1655064"/>
            <a:ext cx="475488" cy="146304"/>
          </a:xfrm>
          <a:prstGeom prst="rect">
            <a:avLst/>
          </a:prstGeom>
          <a:solidFill>
            <a:srgbClr val="0A2240"/>
          </a:solidFill>
          <a:ln w="3810">
            <a:solidFill>
              <a:srgbClr val="42A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8448" y="165506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256032" y="2221992"/>
            <a:ext cx="1481328" cy="786384"/>
          </a:xfrm>
          <a:prstGeom prst="rect">
            <a:avLst/>
          </a:prstGeom>
          <a:solidFill>
            <a:srgbClr val="152840"/>
          </a:solidFill>
          <a:ln w="6350">
            <a:solidFill>
              <a:srgbClr val="42A5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2608" y="2295144"/>
            <a:ext cx="237744" cy="109728"/>
          </a:xfrm>
          <a:prstGeom prst="ellipse">
            <a:avLst/>
          </a:prstGeom>
          <a:solidFill>
            <a:srgbClr val="1E88E5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2350008"/>
            <a:ext cx="237744" cy="256032"/>
          </a:xfrm>
          <a:prstGeom prst="rect">
            <a:avLst/>
          </a:prstGeom>
          <a:solidFill>
            <a:srgbClr val="0E3560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" y="2542032"/>
            <a:ext cx="237744" cy="109728"/>
          </a:xfrm>
          <a:prstGeom prst="ellipse">
            <a:avLst/>
          </a:prstGeom>
          <a:solidFill>
            <a:srgbClr val="1E88E5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229514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Instance 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85216" y="2569464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56032" y="2816352"/>
            <a:ext cx="475488" cy="146304"/>
          </a:xfrm>
          <a:prstGeom prst="rect">
            <a:avLst/>
          </a:prstGeom>
          <a:solidFill>
            <a:srgbClr val="0A2240"/>
          </a:solidFill>
          <a:ln w="3810">
            <a:solidFill>
              <a:srgbClr val="42A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281635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CPU/Mem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777240" y="2816352"/>
            <a:ext cx="475488" cy="146304"/>
          </a:xfrm>
          <a:prstGeom prst="rect">
            <a:avLst/>
          </a:prstGeom>
          <a:solidFill>
            <a:srgbClr val="0A2240"/>
          </a:solidFill>
          <a:ln w="3810">
            <a:solidFill>
              <a:srgbClr val="42A5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281635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1298448" y="2816352"/>
            <a:ext cx="475488" cy="146304"/>
          </a:xfrm>
          <a:prstGeom prst="rect">
            <a:avLst/>
          </a:prstGeom>
          <a:solidFill>
            <a:srgbClr val="0A2240"/>
          </a:solidFill>
          <a:ln w="3810">
            <a:solidFill>
              <a:srgbClr val="42A5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8448" y="281635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256032" y="3383280"/>
            <a:ext cx="1481328" cy="786384"/>
          </a:xfrm>
          <a:prstGeom prst="rect">
            <a:avLst/>
          </a:prstGeom>
          <a:solidFill>
            <a:srgbClr val="152840"/>
          </a:solidFill>
          <a:ln w="6350">
            <a:solidFill>
              <a:srgbClr val="42A5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92608" y="3456432"/>
            <a:ext cx="237744" cy="109728"/>
          </a:xfrm>
          <a:prstGeom prst="ellipse">
            <a:avLst/>
          </a:prstGeom>
          <a:solidFill>
            <a:srgbClr val="1E88E5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608" y="3511296"/>
            <a:ext cx="237744" cy="256032"/>
          </a:xfrm>
          <a:prstGeom prst="rect">
            <a:avLst/>
          </a:prstGeom>
          <a:solidFill>
            <a:srgbClr val="0E3560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2608" y="3703320"/>
            <a:ext cx="237744" cy="109728"/>
          </a:xfrm>
          <a:prstGeom prst="ellipse">
            <a:avLst/>
          </a:prstGeom>
          <a:solidFill>
            <a:srgbClr val="1E88E5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" y="345643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Instance 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85216" y="3730752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UAT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56032" y="3977640"/>
            <a:ext cx="475488" cy="146304"/>
          </a:xfrm>
          <a:prstGeom prst="rect">
            <a:avLst/>
          </a:prstGeom>
          <a:solidFill>
            <a:srgbClr val="0A2240"/>
          </a:solidFill>
          <a:ln w="3810">
            <a:solidFill>
              <a:srgbClr val="42A5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3977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CPU/Mem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777240" y="3977640"/>
            <a:ext cx="475488" cy="146304"/>
          </a:xfrm>
          <a:prstGeom prst="rect">
            <a:avLst/>
          </a:prstGeom>
          <a:solidFill>
            <a:srgbClr val="0A2240"/>
          </a:solidFill>
          <a:ln w="3810">
            <a:solidFill>
              <a:srgbClr val="42A5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3977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1298448" y="3977640"/>
            <a:ext cx="475488" cy="146304"/>
          </a:xfrm>
          <a:prstGeom prst="rect">
            <a:avLst/>
          </a:prstGeom>
          <a:solidFill>
            <a:srgbClr val="0A2240"/>
          </a:solidFill>
          <a:ln w="3810">
            <a:solidFill>
              <a:srgbClr val="42A5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98448" y="3977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256032" y="4544568"/>
            <a:ext cx="1481328" cy="786384"/>
          </a:xfrm>
          <a:prstGeom prst="rect">
            <a:avLst/>
          </a:prstGeom>
          <a:solidFill>
            <a:srgbClr val="152840"/>
          </a:solidFill>
          <a:ln w="6350">
            <a:solidFill>
              <a:srgbClr val="42A5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92608" y="4617720"/>
            <a:ext cx="237744" cy="109728"/>
          </a:xfrm>
          <a:prstGeom prst="ellipse">
            <a:avLst/>
          </a:prstGeom>
          <a:solidFill>
            <a:srgbClr val="1E88E5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" y="4672584"/>
            <a:ext cx="237744" cy="256032"/>
          </a:xfrm>
          <a:prstGeom prst="rect">
            <a:avLst/>
          </a:prstGeom>
          <a:solidFill>
            <a:srgbClr val="0E3560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2608" y="4864608"/>
            <a:ext cx="237744" cy="109728"/>
          </a:xfrm>
          <a:prstGeom prst="ellipse">
            <a:avLst/>
          </a:prstGeom>
          <a:solidFill>
            <a:srgbClr val="1E88E5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5216" y="461772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Instance 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85216" y="4892040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inventory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56032" y="5138928"/>
            <a:ext cx="475488" cy="146304"/>
          </a:xfrm>
          <a:prstGeom prst="rect">
            <a:avLst/>
          </a:prstGeom>
          <a:solidFill>
            <a:srgbClr val="0A2240"/>
          </a:solidFill>
          <a:ln w="3810">
            <a:solidFill>
              <a:srgbClr val="42A5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" y="51389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CPU/Mem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777240" y="5138928"/>
            <a:ext cx="475488" cy="146304"/>
          </a:xfrm>
          <a:prstGeom prst="rect">
            <a:avLst/>
          </a:prstGeom>
          <a:solidFill>
            <a:srgbClr val="0A2240"/>
          </a:solidFill>
          <a:ln w="3810">
            <a:solidFill>
              <a:srgbClr val="42A5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51389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1298448" y="5138928"/>
            <a:ext cx="475488" cy="146304"/>
          </a:xfrm>
          <a:prstGeom prst="rect">
            <a:avLst/>
          </a:prstGeom>
          <a:solidFill>
            <a:srgbClr val="0A2240"/>
          </a:solidFill>
          <a:ln w="3810">
            <a:solidFill>
              <a:srgbClr val="42A5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98448" y="51389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530352" y="4901184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• •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828800" y="28803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Invoke-SQLCMD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828800" y="306324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828800" y="320954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1847088" y="3374136"/>
            <a:ext cx="466344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  <a:tailEnd type="open"/>
          </a:ln>
        </p:spPr>
      </p:sp>
      <p:sp>
        <p:nvSpPr>
          <p:cNvPr id="60" name="Shape 58"/>
          <p:cNvSpPr/>
          <p:nvPr/>
        </p:nvSpPr>
        <p:spPr>
          <a:xfrm>
            <a:off x="2331720" y="676656"/>
            <a:ext cx="3246120" cy="5321808"/>
          </a:xfrm>
          <a:prstGeom prst="rect">
            <a:avLst/>
          </a:prstGeom>
          <a:solidFill>
            <a:srgbClr val="091A28"/>
          </a:solidFill>
          <a:ln w="9525">
            <a:solidFill>
              <a:srgbClr val="007B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331720" y="676656"/>
            <a:ext cx="3246120" cy="310896"/>
          </a:xfrm>
          <a:prstGeom prst="rect">
            <a:avLst/>
          </a:prstGeom>
          <a:solidFill>
            <a:srgbClr val="009CAE"/>
          </a:solidFill>
          <a:ln w="12700">
            <a:solidFill>
              <a:srgbClr val="009C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331720" y="67665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Monitoring Server  (SQL Server)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423160" y="1060704"/>
            <a:ext cx="3063240" cy="1389888"/>
          </a:xfrm>
          <a:prstGeom prst="rect">
            <a:avLst/>
          </a:prstGeom>
          <a:solidFill>
            <a:srgbClr val="0F2438"/>
          </a:solidFill>
          <a:ln w="762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423160" y="1060704"/>
            <a:ext cx="3063240" cy="2560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23160" y="10607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Agent — PowerShell Jobs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441448" y="1344168"/>
            <a:ext cx="3026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Invoke-SQLCMD  (every 1–10 min per metric type)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2459736" y="1554480"/>
            <a:ext cx="950976" cy="201168"/>
          </a:xfrm>
          <a:prstGeom prst="rect">
            <a:avLst/>
          </a:prstGeom>
          <a:solidFill>
            <a:srgbClr val="091E30"/>
          </a:solidFill>
          <a:ln w="4445">
            <a:solidFill>
              <a:srgbClr val="1E88E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59736" y="1554480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SQLStats CPU/Mem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3465576" y="1554480"/>
            <a:ext cx="950976" cy="201168"/>
          </a:xfrm>
          <a:prstGeom prst="rect">
            <a:avLst/>
          </a:prstGeom>
          <a:solidFill>
            <a:srgbClr val="091E30"/>
          </a:solidFill>
          <a:ln w="4445">
            <a:solidFill>
              <a:srgbClr val="1E88E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65576" y="1554480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SQLSessions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4471416" y="1554480"/>
            <a:ext cx="950976" cy="201168"/>
          </a:xfrm>
          <a:prstGeom prst="rect">
            <a:avLst/>
          </a:prstGeom>
          <a:solidFill>
            <a:srgbClr val="091E30"/>
          </a:solidFill>
          <a:ln w="4445">
            <a:solidFill>
              <a:srgbClr val="1E88E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471416" y="1554480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SQLDatabase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2459736" y="1810512"/>
            <a:ext cx="950976" cy="201168"/>
          </a:xfrm>
          <a:prstGeom prst="rect">
            <a:avLst/>
          </a:prstGeom>
          <a:solidFill>
            <a:srgbClr val="091E30"/>
          </a:solidFill>
          <a:ln w="4445">
            <a:solidFill>
              <a:srgbClr val="1E88E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459736" y="1810512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SQLAgentJobs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3465576" y="1810512"/>
            <a:ext cx="950976" cy="201168"/>
          </a:xfrm>
          <a:prstGeom prst="rect">
            <a:avLst/>
          </a:prstGeom>
          <a:solidFill>
            <a:srgbClr val="091E30"/>
          </a:solidFill>
          <a:ln w="4445">
            <a:solidFill>
              <a:srgbClr val="1E88E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465576" y="1810512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SQLBackup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4471416" y="1810512"/>
            <a:ext cx="950976" cy="201168"/>
          </a:xfrm>
          <a:prstGeom prst="rect">
            <a:avLst/>
          </a:prstGeom>
          <a:solidFill>
            <a:srgbClr val="091E30"/>
          </a:solidFill>
          <a:ln w="4445">
            <a:solidFill>
              <a:srgbClr val="1E88E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471416" y="1810512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VmWareMetrics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2459736" y="2066544"/>
            <a:ext cx="950976" cy="201168"/>
          </a:xfrm>
          <a:prstGeom prst="rect">
            <a:avLst/>
          </a:prstGeom>
          <a:solidFill>
            <a:srgbClr val="091E30"/>
          </a:solidFill>
          <a:ln w="4445">
            <a:solidFill>
              <a:srgbClr val="1E88E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459736" y="2066544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XEvent Deadlocks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3465576" y="2066544"/>
            <a:ext cx="950976" cy="201168"/>
          </a:xfrm>
          <a:prstGeom prst="rect">
            <a:avLst/>
          </a:prstGeom>
          <a:solidFill>
            <a:srgbClr val="091E30"/>
          </a:solidFill>
          <a:ln w="4445">
            <a:solidFill>
              <a:srgbClr val="1E88E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465576" y="2066544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SQLDefault_Trace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4471416" y="2066544"/>
            <a:ext cx="950976" cy="201168"/>
          </a:xfrm>
          <a:prstGeom prst="rect">
            <a:avLst/>
          </a:prstGeom>
          <a:solidFill>
            <a:srgbClr val="091E30"/>
          </a:solidFill>
          <a:ln w="4445">
            <a:solidFill>
              <a:srgbClr val="1E88E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471416" y="2066544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+ 9 more jobs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2423160" y="2523744"/>
            <a:ext cx="3063240" cy="804672"/>
          </a:xfrm>
          <a:prstGeom prst="rect">
            <a:avLst/>
          </a:prstGeom>
          <a:solidFill>
            <a:srgbClr val="0F2438"/>
          </a:solidFill>
          <a:ln w="7620">
            <a:solidFill>
              <a:srgbClr val="E651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2423160" y="2523744"/>
            <a:ext cx="3063240" cy="23774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423160" y="252374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DBA_Watcher_DB_TempDB  (Staging)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2459736" y="2798064"/>
            <a:ext cx="2990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— </a:t>
            </a:r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 &amp; interim cleaning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2459736" y="3008376"/>
            <a:ext cx="2990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</a:t>
            </a:r>
            <a:pPr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normal for alert thresholds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3954780" y="3328416"/>
            <a:ext cx="0" cy="201168"/>
          </a:xfrm>
          <a:prstGeom prst="line">
            <a:avLst/>
          </a:prstGeom>
          <a:noFill/>
          <a:ln w="15240">
            <a:solidFill>
              <a:srgbClr val="455A64"/>
            </a:solidFill>
            <a:prstDash val="solid"/>
            <a:tailEnd type="open"/>
          </a:ln>
        </p:spPr>
      </p:sp>
      <p:sp>
        <p:nvSpPr>
          <p:cNvPr id="91" name="Shape 89"/>
          <p:cNvSpPr/>
          <p:nvPr/>
        </p:nvSpPr>
        <p:spPr>
          <a:xfrm>
            <a:off x="2423160" y="3566160"/>
            <a:ext cx="3063240" cy="2212848"/>
          </a:xfrm>
          <a:prstGeom prst="rect">
            <a:avLst/>
          </a:prstGeom>
          <a:solidFill>
            <a:srgbClr val="0F2438"/>
          </a:solidFill>
          <a:ln w="7620">
            <a:solidFill>
              <a:srgbClr val="5C35B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2423160" y="3566160"/>
            <a:ext cx="3063240" cy="237744"/>
          </a:xfrm>
          <a:prstGeom prst="rect">
            <a:avLst/>
          </a:prstGeom>
          <a:solidFill>
            <a:srgbClr val="6E44CC"/>
          </a:solidFill>
          <a:ln w="12700">
            <a:solidFill>
              <a:srgbClr val="6E44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423160" y="35661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DBA_Watcher_DB  (Persistent Store)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2459736" y="3840480"/>
            <a:ext cx="2990088" cy="384048"/>
          </a:xfrm>
          <a:prstGeom prst="rect">
            <a:avLst/>
          </a:prstGeom>
          <a:solidFill>
            <a:srgbClr val="091526"/>
          </a:solidFill>
          <a:ln w="4445">
            <a:solidFill>
              <a:srgbClr val="7E57C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459736" y="3840480"/>
            <a:ext cx="82296" cy="384048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578608" y="38404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3246120" y="3858768"/>
            <a:ext cx="2203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· Mem · Sessions · AlwaysOn · Backups · XEvents · History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2459736" y="4279392"/>
            <a:ext cx="2990088" cy="384048"/>
          </a:xfrm>
          <a:prstGeom prst="rect">
            <a:avLst/>
          </a:prstGeom>
          <a:solidFill>
            <a:srgbClr val="091526"/>
          </a:solidFill>
          <a:ln w="4445">
            <a:solidFill>
              <a:srgbClr val="7E57C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459736" y="4279392"/>
            <a:ext cx="82296" cy="384048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578608" y="42793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3246120" y="4297680"/>
            <a:ext cx="2203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WaitStats · WorstPerforming · Missing Indexes · Logins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459736" y="4718304"/>
            <a:ext cx="2990088" cy="384048"/>
          </a:xfrm>
          <a:prstGeom prst="rect">
            <a:avLst/>
          </a:prstGeom>
          <a:solidFill>
            <a:srgbClr val="091526"/>
          </a:solidFill>
          <a:ln w="4445">
            <a:solidFill>
              <a:srgbClr val="7E57C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459736" y="4718304"/>
            <a:ext cx="82296" cy="384048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578608" y="47183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3246120" y="4736592"/>
            <a:ext cx="2203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normal per instance — used for alert thresholds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2459736" y="5157216"/>
            <a:ext cx="2990088" cy="384048"/>
          </a:xfrm>
          <a:prstGeom prst="rect">
            <a:avLst/>
          </a:prstGeom>
          <a:solidFill>
            <a:srgbClr val="091526"/>
          </a:solidFill>
          <a:ln w="4445">
            <a:solidFill>
              <a:srgbClr val="7E57C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459736" y="5157216"/>
            <a:ext cx="82296" cy="384048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578608" y="515721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Notif.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3246120" y="5175504"/>
            <a:ext cx="22037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Alert_History — full audit log of every alert sent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5577840" y="166420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5577840" y="1819656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5596128" y="2011680"/>
            <a:ext cx="374904" cy="0"/>
          </a:xfrm>
          <a:prstGeom prst="line">
            <a:avLst/>
          </a:prstGeom>
          <a:noFill/>
          <a:ln w="19050">
            <a:solidFill>
              <a:srgbClr val="CC5500"/>
            </a:solidFill>
            <a:prstDash val="solid"/>
            <a:tailEnd type="open"/>
          </a:ln>
        </p:spPr>
      </p:sp>
      <p:sp>
        <p:nvSpPr>
          <p:cNvPr id="113" name="Text 111"/>
          <p:cNvSpPr/>
          <p:nvPr/>
        </p:nvSpPr>
        <p:spPr>
          <a:xfrm>
            <a:off x="5577840" y="438912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Thresh.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5577840" y="4544568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5596128" y="4736592"/>
            <a:ext cx="374904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  <a:tailEnd type="open"/>
          </a:ln>
        </p:spPr>
      </p:sp>
      <p:sp>
        <p:nvSpPr>
          <p:cNvPr id="116" name="Shape 114"/>
          <p:cNvSpPr/>
          <p:nvPr/>
        </p:nvSpPr>
        <p:spPr>
          <a:xfrm>
            <a:off x="5989320" y="676656"/>
            <a:ext cx="1755648" cy="2578608"/>
          </a:xfrm>
          <a:prstGeom prst="rect">
            <a:avLst/>
          </a:prstGeom>
          <a:solidFill>
            <a:srgbClr val="1C0D00"/>
          </a:solidFill>
          <a:ln w="9525">
            <a:solidFill>
              <a:srgbClr val="CC55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7" name="Shape 115"/>
          <p:cNvSpPr/>
          <p:nvPr/>
        </p:nvSpPr>
        <p:spPr>
          <a:xfrm>
            <a:off x="5989320" y="676656"/>
            <a:ext cx="1755648" cy="310896"/>
          </a:xfrm>
          <a:prstGeom prst="rect">
            <a:avLst/>
          </a:prstGeom>
          <a:solidFill>
            <a:srgbClr val="E05E00"/>
          </a:solidFill>
          <a:ln w="12700">
            <a:solidFill>
              <a:srgbClr val="E05E0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989320" y="67665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5989320" y="987552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Edition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6080760" y="1207008"/>
            <a:ext cx="1572768" cy="301752"/>
          </a:xfrm>
          <a:prstGeom prst="rect">
            <a:avLst/>
          </a:prstGeom>
          <a:solidFill>
            <a:srgbClr val="2A1400"/>
          </a:solidFill>
          <a:ln w="3810">
            <a:solidFill>
              <a:srgbClr val="CC550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126480" y="1207008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&amp; Memory trends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6080760" y="1572768"/>
            <a:ext cx="1572768" cy="301752"/>
          </a:xfrm>
          <a:prstGeom prst="rect">
            <a:avLst/>
          </a:prstGeom>
          <a:solidFill>
            <a:srgbClr val="2A1400"/>
          </a:solidFill>
          <a:ln w="3810">
            <a:solidFill>
              <a:srgbClr val="CC550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126480" y="1572768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&amp; Blocking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6080760" y="1938528"/>
            <a:ext cx="1572768" cy="301752"/>
          </a:xfrm>
          <a:prstGeom prst="rect">
            <a:avLst/>
          </a:prstGeom>
          <a:solidFill>
            <a:srgbClr val="2A1400"/>
          </a:solidFill>
          <a:ln w="3810">
            <a:solidFill>
              <a:srgbClr val="CC550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126480" y="1938528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/ File growth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6080760" y="2304288"/>
            <a:ext cx="1572768" cy="301752"/>
          </a:xfrm>
          <a:prstGeom prst="rect">
            <a:avLst/>
          </a:prstGeom>
          <a:solidFill>
            <a:srgbClr val="2A1400"/>
          </a:solidFill>
          <a:ln w="3810">
            <a:solidFill>
              <a:srgbClr val="CC550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126480" y="2304288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AlwaysOn / AG health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6080760" y="2670048"/>
            <a:ext cx="1572768" cy="301752"/>
          </a:xfrm>
          <a:prstGeom prst="rect">
            <a:avLst/>
          </a:prstGeom>
          <a:solidFill>
            <a:srgbClr val="2A1400"/>
          </a:solidFill>
          <a:ln w="3810">
            <a:solidFill>
              <a:srgbClr val="CC550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126480" y="2670048"/>
            <a:ext cx="14813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status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6062472" y="3054096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6D4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plugin reads DBA_Watcher_DB directly</a:t>
            </a:r>
            <a:endParaRPr lang="en-US" sz="650" dirty="0"/>
          </a:p>
        </p:txBody>
      </p:sp>
      <p:sp>
        <p:nvSpPr>
          <p:cNvPr id="131" name="Shape 129"/>
          <p:cNvSpPr/>
          <p:nvPr/>
        </p:nvSpPr>
        <p:spPr>
          <a:xfrm>
            <a:off x="8037576" y="3291840"/>
            <a:ext cx="1755648" cy="2706624"/>
          </a:xfrm>
          <a:prstGeom prst="rect">
            <a:avLst/>
          </a:prstGeom>
          <a:solidFill>
            <a:srgbClr val="1E0003"/>
          </a:solidFill>
          <a:ln w="9525">
            <a:solidFill>
              <a:srgbClr val="B71C1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2" name="Shape 130"/>
          <p:cNvSpPr/>
          <p:nvPr/>
        </p:nvSpPr>
        <p:spPr>
          <a:xfrm>
            <a:off x="8037576" y="3291840"/>
            <a:ext cx="1755648" cy="31089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037576" y="329184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Engine</a:t>
            </a:r>
            <a:endParaRPr lang="en-US" sz="850" dirty="0"/>
          </a:p>
        </p:txBody>
      </p:sp>
      <p:sp>
        <p:nvSpPr>
          <p:cNvPr id="134" name="Text 132"/>
          <p:cNvSpPr/>
          <p:nvPr/>
        </p:nvSpPr>
        <p:spPr>
          <a:xfrm>
            <a:off x="8037576" y="3602736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Agent Alert Jobs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8129016" y="3822192"/>
            <a:ext cx="1572768" cy="256032"/>
          </a:xfrm>
          <a:prstGeom prst="rect">
            <a:avLst/>
          </a:prstGeom>
          <a:solidFill>
            <a:srgbClr val="2E0006"/>
          </a:solidFill>
          <a:ln w="3810">
            <a:solidFill>
              <a:srgbClr val="EF535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165592" y="3877056"/>
            <a:ext cx="128016" cy="12801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339328" y="382219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[Alert] SQL Stats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8129016" y="4133088"/>
            <a:ext cx="1572768" cy="256032"/>
          </a:xfrm>
          <a:prstGeom prst="rect">
            <a:avLst/>
          </a:prstGeom>
          <a:solidFill>
            <a:srgbClr val="2E0006"/>
          </a:solidFill>
          <a:ln w="3810">
            <a:solidFill>
              <a:srgbClr val="EF535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165592" y="4187952"/>
            <a:ext cx="128016" cy="12801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339328" y="4133088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[Alert] SQL Sessions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8129016" y="4443984"/>
            <a:ext cx="1572768" cy="256032"/>
          </a:xfrm>
          <a:prstGeom prst="rect">
            <a:avLst/>
          </a:prstGeom>
          <a:solidFill>
            <a:srgbClr val="2E0006"/>
          </a:solidFill>
          <a:ln w="3810">
            <a:solidFill>
              <a:srgbClr val="EF535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165592" y="4498848"/>
            <a:ext cx="128016" cy="12801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339328" y="4443984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[Alert] DB Alerts</a:t>
            </a:r>
            <a:endParaRPr lang="en-US" sz="750" dirty="0"/>
          </a:p>
        </p:txBody>
      </p:sp>
      <p:sp>
        <p:nvSpPr>
          <p:cNvPr id="144" name="Shape 142"/>
          <p:cNvSpPr/>
          <p:nvPr/>
        </p:nvSpPr>
        <p:spPr>
          <a:xfrm>
            <a:off x="8129016" y="4754880"/>
            <a:ext cx="1572768" cy="256032"/>
          </a:xfrm>
          <a:prstGeom prst="rect">
            <a:avLst/>
          </a:prstGeom>
          <a:solidFill>
            <a:srgbClr val="2E0006"/>
          </a:solidFill>
          <a:ln w="3810">
            <a:solidFill>
              <a:srgbClr val="EF535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165592" y="4809744"/>
            <a:ext cx="128016" cy="12801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8339328" y="4754880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[Alert] Log Space Used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8129016" y="5065776"/>
            <a:ext cx="1572768" cy="256032"/>
          </a:xfrm>
          <a:prstGeom prst="rect">
            <a:avLst/>
          </a:prstGeom>
          <a:solidFill>
            <a:srgbClr val="2E0006"/>
          </a:solidFill>
          <a:ln w="3810">
            <a:solidFill>
              <a:srgbClr val="EF535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165592" y="5120640"/>
            <a:ext cx="128016" cy="12801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8339328" y="5065776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[Alert] Missing Log Backup</a:t>
            </a:r>
            <a:endParaRPr lang="en-US" sz="750" dirty="0"/>
          </a:p>
        </p:txBody>
      </p:sp>
      <p:sp>
        <p:nvSpPr>
          <p:cNvPr id="150" name="Shape 148"/>
          <p:cNvSpPr/>
          <p:nvPr/>
        </p:nvSpPr>
        <p:spPr>
          <a:xfrm>
            <a:off x="8129016" y="5376672"/>
            <a:ext cx="1572768" cy="256032"/>
          </a:xfrm>
          <a:prstGeom prst="rect">
            <a:avLst/>
          </a:prstGeom>
          <a:solidFill>
            <a:srgbClr val="2E0006"/>
          </a:solidFill>
          <a:ln w="3810">
            <a:solidFill>
              <a:srgbClr val="EF535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165592" y="5431536"/>
            <a:ext cx="128016" cy="128016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8339328" y="537667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[Alert] SQL Job Alert</a:t>
            </a:r>
            <a:endParaRPr lang="en-US" sz="750" dirty="0"/>
          </a:p>
        </p:txBody>
      </p:sp>
      <p:sp>
        <p:nvSpPr>
          <p:cNvPr id="153" name="Text 151"/>
          <p:cNvSpPr/>
          <p:nvPr/>
        </p:nvSpPr>
        <p:spPr>
          <a:xfrm>
            <a:off x="8110728" y="5797296"/>
            <a:ext cx="16093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vs Baseline schema thresholds</a:t>
            </a:r>
            <a:endParaRPr lang="en-US" sz="650" dirty="0"/>
          </a:p>
        </p:txBody>
      </p:sp>
      <p:sp>
        <p:nvSpPr>
          <p:cNvPr id="154" name="Shape 152"/>
          <p:cNvSpPr/>
          <p:nvPr/>
        </p:nvSpPr>
        <p:spPr>
          <a:xfrm>
            <a:off x="10113264" y="676656"/>
            <a:ext cx="1883664" cy="2487168"/>
          </a:xfrm>
          <a:prstGeom prst="rect">
            <a:avLst/>
          </a:prstGeom>
          <a:solidFill>
            <a:srgbClr val="071510"/>
          </a:solidFill>
          <a:ln w="9525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5" name="Shape 153"/>
          <p:cNvSpPr/>
          <p:nvPr/>
        </p:nvSpPr>
        <p:spPr>
          <a:xfrm>
            <a:off x="10113264" y="676656"/>
            <a:ext cx="1883664" cy="310896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0113264" y="676656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Alert Email</a:t>
            </a:r>
            <a:endParaRPr lang="en-US" sz="850" dirty="0"/>
          </a:p>
        </p:txBody>
      </p:sp>
      <p:sp>
        <p:nvSpPr>
          <p:cNvPr id="157" name="Text 155"/>
          <p:cNvSpPr/>
          <p:nvPr/>
        </p:nvSpPr>
        <p:spPr>
          <a:xfrm>
            <a:off x="10186416" y="101498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msdb.dbo.sp_send_dbmail</a:t>
            </a:r>
            <a:endParaRPr lang="en-US" sz="800" dirty="0"/>
          </a:p>
        </p:txBody>
      </p:sp>
      <p:sp>
        <p:nvSpPr>
          <p:cNvPr id="158" name="Text 156"/>
          <p:cNvSpPr/>
          <p:nvPr/>
        </p:nvSpPr>
        <p:spPr>
          <a:xfrm>
            <a:off x="10204704" y="1243584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</a:t>
            </a:r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Settings.Pager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(on-call DBA schedule)</a:t>
            </a:r>
            <a:endParaRPr lang="en-US" sz="750" dirty="0"/>
          </a:p>
        </p:txBody>
      </p:sp>
      <p:sp>
        <p:nvSpPr>
          <p:cNvPr id="159" name="Text 157"/>
          <p:cNvSpPr/>
          <p:nvPr/>
        </p:nvSpPr>
        <p:spPr>
          <a:xfrm>
            <a:off x="10204704" y="1618488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CC: </a:t>
            </a:r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Service_Level_Owner_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Customer_Email</a:t>
            </a:r>
            <a:endParaRPr lang="en-US" sz="750" dirty="0"/>
          </a:p>
        </p:txBody>
      </p:sp>
      <p:sp>
        <p:nvSpPr>
          <p:cNvPr id="160" name="Text 158"/>
          <p:cNvSpPr/>
          <p:nvPr/>
        </p:nvSpPr>
        <p:spPr>
          <a:xfrm>
            <a:off x="10204704" y="2002536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Logged to Notifications.Alert_History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10186416" y="219456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routing via Pager schedule</a:t>
            </a:r>
            <a:endParaRPr lang="en-US" sz="700" dirty="0"/>
          </a:p>
        </p:txBody>
      </p:sp>
      <p:sp>
        <p:nvSpPr>
          <p:cNvPr id="162" name="Text 160"/>
          <p:cNvSpPr/>
          <p:nvPr/>
        </p:nvSpPr>
        <p:spPr>
          <a:xfrm>
            <a:off x="10186416" y="241401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suppression via Settings.Alert_Override</a:t>
            </a:r>
            <a:endParaRPr lang="en-US" sz="700" dirty="0"/>
          </a:p>
        </p:txBody>
      </p:sp>
      <p:sp>
        <p:nvSpPr>
          <p:cNvPr id="163" name="Text 161"/>
          <p:cNvSpPr/>
          <p:nvPr/>
        </p:nvSpPr>
        <p:spPr>
          <a:xfrm>
            <a:off x="10186416" y="261518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Settings.Monitoring_Override per instance</a:t>
            </a:r>
            <a:endParaRPr lang="en-US" sz="700" dirty="0"/>
          </a:p>
        </p:txBody>
      </p:sp>
      <p:sp>
        <p:nvSpPr>
          <p:cNvPr id="164" name="Text 162"/>
          <p:cNvSpPr/>
          <p:nvPr/>
        </p:nvSpPr>
        <p:spPr>
          <a:xfrm>
            <a:off x="10186416" y="28163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Grooming settings manage data retention</a:t>
            </a:r>
            <a:endParaRPr lang="en-US" sz="700" dirty="0"/>
          </a:p>
        </p:txBody>
      </p:sp>
      <p:sp>
        <p:nvSpPr>
          <p:cNvPr id="165" name="Shape 163"/>
          <p:cNvSpPr/>
          <p:nvPr/>
        </p:nvSpPr>
        <p:spPr>
          <a:xfrm>
            <a:off x="10113264" y="3236976"/>
            <a:ext cx="1883664" cy="2761488"/>
          </a:xfrm>
          <a:prstGeom prst="rect">
            <a:avLst/>
          </a:prstGeom>
          <a:solidFill>
            <a:srgbClr val="00091A"/>
          </a:solidFill>
          <a:ln w="9525">
            <a:solidFill>
              <a:srgbClr val="0060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6" name="Shape 164"/>
          <p:cNvSpPr/>
          <p:nvPr/>
        </p:nvSpPr>
        <p:spPr>
          <a:xfrm>
            <a:off x="10113264" y="3236976"/>
            <a:ext cx="1883664" cy="310896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0113264" y="3236976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Incident</a:t>
            </a:r>
            <a:endParaRPr lang="en-US" sz="850" dirty="0"/>
          </a:p>
        </p:txBody>
      </p:sp>
      <p:sp>
        <p:nvSpPr>
          <p:cNvPr id="168" name="Text 166"/>
          <p:cNvSpPr/>
          <p:nvPr/>
        </p:nvSpPr>
        <p:spPr>
          <a:xfrm>
            <a:off x="10186416" y="356616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via email-to-incident</a:t>
            </a:r>
            <a:endParaRPr lang="en-US" sz="800" dirty="0"/>
          </a:p>
        </p:txBody>
      </p:sp>
      <p:sp>
        <p:nvSpPr>
          <p:cNvPr id="169" name="Text 167"/>
          <p:cNvSpPr/>
          <p:nvPr/>
        </p:nvSpPr>
        <p:spPr>
          <a:xfrm>
            <a:off x="10204704" y="3803904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sp_send_dbmail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ServiceNow email address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10204704" y="4187952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lookup: </a:t>
            </a:r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DBA_Watcher_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ServiceNow.sm_contactsAll</a:t>
            </a:r>
            <a:endParaRPr lang="en-US" sz="750" dirty="0"/>
          </a:p>
        </p:txBody>
      </p:sp>
      <p:sp>
        <p:nvSpPr>
          <p:cNvPr id="171" name="Text 169"/>
          <p:cNvSpPr/>
          <p:nvPr/>
        </p:nvSpPr>
        <p:spPr>
          <a:xfrm>
            <a:off x="10204704" y="4572000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required by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policy</a:t>
            </a:r>
            <a:endParaRPr lang="en-US" sz="750" dirty="0"/>
          </a:p>
        </p:txBody>
      </p:sp>
      <p:sp>
        <p:nvSpPr>
          <p:cNvPr id="172" name="Text 170"/>
          <p:cNvSpPr/>
          <p:nvPr/>
        </p:nvSpPr>
        <p:spPr>
          <a:xfrm>
            <a:off x="10186416" y="57607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incident: server name, alert type &amp; details</a:t>
            </a:r>
            <a:endParaRPr lang="en-US" sz="650" dirty="0"/>
          </a:p>
        </p:txBody>
      </p:sp>
      <p:sp>
        <p:nvSpPr>
          <p:cNvPr id="173" name="Text 171"/>
          <p:cNvSpPr/>
          <p:nvPr/>
        </p:nvSpPr>
        <p:spPr>
          <a:xfrm>
            <a:off x="9793224" y="1591056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650" dirty="0"/>
          </a:p>
        </p:txBody>
      </p:sp>
      <p:sp>
        <p:nvSpPr>
          <p:cNvPr id="174" name="Text 172"/>
          <p:cNvSpPr/>
          <p:nvPr/>
        </p:nvSpPr>
        <p:spPr>
          <a:xfrm>
            <a:off x="9793224" y="1746504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</a:t>
            </a:r>
            <a:endParaRPr lang="en-US" sz="650" dirty="0"/>
          </a:p>
        </p:txBody>
      </p:sp>
      <p:sp>
        <p:nvSpPr>
          <p:cNvPr id="175" name="Shape 173"/>
          <p:cNvSpPr/>
          <p:nvPr/>
        </p:nvSpPr>
        <p:spPr>
          <a:xfrm>
            <a:off x="9811512" y="1938528"/>
            <a:ext cx="283464" cy="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  <a:tailEnd type="open"/>
          </a:ln>
        </p:spPr>
      </p:sp>
      <p:sp>
        <p:nvSpPr>
          <p:cNvPr id="176" name="Text 174"/>
          <p:cNvSpPr/>
          <p:nvPr/>
        </p:nvSpPr>
        <p:spPr>
          <a:xfrm>
            <a:off x="9793224" y="4288536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req.</a:t>
            </a:r>
            <a:endParaRPr lang="en-US" sz="650" dirty="0"/>
          </a:p>
        </p:txBody>
      </p:sp>
      <p:sp>
        <p:nvSpPr>
          <p:cNvPr id="177" name="Text 175"/>
          <p:cNvSpPr/>
          <p:nvPr/>
        </p:nvSpPr>
        <p:spPr>
          <a:xfrm>
            <a:off x="9793224" y="4443984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(escal.)</a:t>
            </a:r>
            <a:endParaRPr lang="en-US" sz="650" dirty="0"/>
          </a:p>
        </p:txBody>
      </p:sp>
      <p:sp>
        <p:nvSpPr>
          <p:cNvPr id="178" name="Shape 176"/>
          <p:cNvSpPr/>
          <p:nvPr/>
        </p:nvSpPr>
        <p:spPr>
          <a:xfrm>
            <a:off x="9811512" y="4636008"/>
            <a:ext cx="283464" cy="0"/>
          </a:xfrm>
          <a:prstGeom prst="line">
            <a:avLst/>
          </a:prstGeom>
          <a:noFill/>
          <a:ln w="19050">
            <a:solidFill>
              <a:srgbClr val="0060AC"/>
            </a:solidFill>
            <a:prstDash val="dash"/>
            <a:tailEnd type="open"/>
          </a:ln>
        </p:spPr>
      </p:sp>
      <p:sp>
        <p:nvSpPr>
          <p:cNvPr id="179" name="Shape 177"/>
          <p:cNvSpPr/>
          <p:nvPr/>
        </p:nvSpPr>
        <p:spPr>
          <a:xfrm>
            <a:off x="164592" y="6053328"/>
            <a:ext cx="11832336" cy="0"/>
          </a:xfrm>
          <a:prstGeom prst="line">
            <a:avLst/>
          </a:prstGeom>
          <a:noFill/>
          <a:ln w="6350">
            <a:solidFill>
              <a:srgbClr val="1E3A5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56032" y="6144768"/>
            <a:ext cx="201168" cy="10058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502920" y="610819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collection</a:t>
            </a:r>
            <a:endParaRPr lang="en-US" sz="750" dirty="0"/>
          </a:p>
        </p:txBody>
      </p:sp>
      <p:sp>
        <p:nvSpPr>
          <p:cNvPr id="182" name="Shape 180"/>
          <p:cNvSpPr/>
          <p:nvPr/>
        </p:nvSpPr>
        <p:spPr>
          <a:xfrm>
            <a:off x="2231136" y="6144768"/>
            <a:ext cx="201168" cy="100584"/>
          </a:xfrm>
          <a:prstGeom prst="rect">
            <a:avLst/>
          </a:prstGeom>
          <a:solidFill>
            <a:srgbClr val="CC5500"/>
          </a:solidFill>
          <a:ln w="12700">
            <a:solidFill>
              <a:srgbClr val="CC550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478024" y="610819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read queries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4206240" y="6144768"/>
            <a:ext cx="201168" cy="10058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4453128" y="610819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 check</a:t>
            </a:r>
            <a:endParaRPr lang="en-US" sz="750" dirty="0"/>
          </a:p>
        </p:txBody>
      </p:sp>
      <p:sp>
        <p:nvSpPr>
          <p:cNvPr id="186" name="Shape 184"/>
          <p:cNvSpPr/>
          <p:nvPr/>
        </p:nvSpPr>
        <p:spPr>
          <a:xfrm>
            <a:off x="6181344" y="6144768"/>
            <a:ext cx="201168" cy="1005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6428232" y="610819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email notification</a:t>
            </a:r>
            <a:endParaRPr lang="en-US" sz="750" dirty="0"/>
          </a:p>
        </p:txBody>
      </p:sp>
      <p:sp>
        <p:nvSpPr>
          <p:cNvPr id="188" name="Shape 186"/>
          <p:cNvSpPr/>
          <p:nvPr/>
        </p:nvSpPr>
        <p:spPr>
          <a:xfrm>
            <a:off x="8156448" y="6144768"/>
            <a:ext cx="201168" cy="100584"/>
          </a:xfrm>
          <a:prstGeom prst="rect">
            <a:avLst/>
          </a:prstGeom>
          <a:solidFill>
            <a:srgbClr val="0060AC"/>
          </a:solidFill>
          <a:ln w="12700">
            <a:solidFill>
              <a:srgbClr val="0060AC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8403336" y="610819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incident (email)</a:t>
            </a:r>
            <a:endParaRPr lang="en-US" sz="750" dirty="0"/>
          </a:p>
        </p:txBody>
      </p:sp>
      <p:sp>
        <p:nvSpPr>
          <p:cNvPr id="190" name="Shape 188"/>
          <p:cNvSpPr/>
          <p:nvPr/>
        </p:nvSpPr>
        <p:spPr>
          <a:xfrm>
            <a:off x="10131552" y="6144768"/>
            <a:ext cx="201168" cy="10058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10378440" y="610819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= conditional path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2026-06-09T12:57:09Z</dcterms:created>
  <dcterms:modified xsi:type="dcterms:W3CDTF">2026-06-09T12:57:09Z</dcterms:modified>
</cp:coreProperties>
</file>