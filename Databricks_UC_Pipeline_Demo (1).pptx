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8D4">
              <a:alpha val="85000"/>
            </a:srgbClr>
          </a:solidFill>
          <a:ln w="12700">
            <a:solidFill>
              <a:srgbClr val="0078D4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657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3657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3657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3657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801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2801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2801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2801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945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1945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1945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1945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1089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1089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1089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31089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0233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0233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0233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4023360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45920"/>
            <a:ext cx="1188720" cy="11887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Azure Databricks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440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Unity Catalog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749040" y="10058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Unity Catalog Provisioning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3749040" y="2331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Azure DevOps Pipeline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749040" y="2926080"/>
            <a:ext cx="4114800" cy="36576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490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Demo Presentation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749040" y="402336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0A4EF">
              <a:alpha val="75000"/>
            </a:srgbClr>
          </a:solidFill>
          <a:ln w="12700">
            <a:solidFill>
              <a:srgbClr val="00A4EF">
                <a:alpha val="7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49040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Jinja2 Templates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40680" y="402336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0A4EF">
              <a:alpha val="75000"/>
            </a:srgbClr>
          </a:solidFill>
          <a:ln w="12700">
            <a:solidFill>
              <a:srgbClr val="00A4EF">
                <a:alpha val="7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40680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Databricks CLI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132320" y="402336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0A4EF">
              <a:alpha val="75000"/>
            </a:srgbClr>
          </a:solidFill>
          <a:ln w="12700">
            <a:solidFill>
              <a:srgbClr val="00A4EF">
                <a:alpha val="7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0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3030"/>
                </a:solidFill>
              </a:rPr>
              <a:t>❌  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Manual catalog, schema &amp; table creation in Databricks 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Error-prone — no version control or audit trail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Inconsistent naming across environments (dev/prod)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No repeatable process for onboarding new projects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Grant management scattered and undocumented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3931920" cy="7315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6749"/>
                </a:solidFill>
              </a:rPr>
              <a:t>✅  Our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Azure DevOps pipeline with YAML automation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Jinja2 templates for all UC objects (catalog → grants)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Single params.json per project — one source of truth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Databricks SQL Statements API for reliable execution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Git-tracked, repeatable, environment-agnostic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468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8D4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92024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C7D8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192024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115568"/>
            <a:ext cx="777240" cy="7772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25272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 Trigger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4688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Push to main branch in Azure DevOps Git repo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9456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8D4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68880" y="914400"/>
            <a:ext cx="192024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C7D8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914400"/>
            <a:ext cx="192024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44952" y="1115568"/>
            <a:ext cx="777240" cy="77724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25272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 Generate SQL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560320" y="24688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generate_sql.py renders Jinja2 templates with params.json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38912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8D4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663440" y="914400"/>
            <a:ext cx="192024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C7D8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63440" y="914400"/>
            <a:ext cx="1920240" cy="7315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39512" y="1115568"/>
            <a:ext cx="777240" cy="777240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25272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0916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3. Execute SQL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754880" y="24688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Databricks SQL Statements API runs files in order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58368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8D4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58000" y="914400"/>
            <a:ext cx="192024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C7D8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58000" y="914400"/>
            <a:ext cx="1920240" cy="7315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34072" y="1115568"/>
            <a:ext cx="777240" cy="7772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252728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0372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4. UC Objects Ready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949440" y="24688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Catalog, schemas, tables &amp; grants created/updated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Files execute in sorted order: 01_catalog → 02_schemas → 03_external_locations → 04_volumes → 05_tables → 06_grants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 &amp; Key Files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291840" cy="3840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📁 Repo Layout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├─ pipeline/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 └─ deploy-uc.yaml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├─ template/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 ├─ 01_catalog.sql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 ├─ 02_schemas.sql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 ├─ 03_external_locations.sql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 ├─ 04_volumes.sql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 ├─ 05_tables.sql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 └─ 06_grants.sql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├─ projects/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 └─ ProjectCTD/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│         └─ params.json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└─ generate_sql.py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40480" y="960120"/>
            <a:ext cx="5029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0" y="960120"/>
            <a:ext cx="54864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1430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0" y="1033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deploy-uc.yaml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80560" y="13624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Azure DevOps pipeline — installs CLI, runs generator, executes SQL via Databricks API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0" y="1920240"/>
            <a:ext cx="5029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0480" y="1920240"/>
            <a:ext cx="54864" cy="8229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1031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template/*.sql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80560" y="2322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Jinja2 SQL templates for each UC object type. Parameterized — never hardcode values here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840480" y="2880360"/>
            <a:ext cx="5029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40480" y="2880360"/>
            <a:ext cx="54864" cy="82296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0632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8056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generate_sql.py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480560" y="32826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Renders templates → rendered SQL files written to projects/&lt;PROJECT&gt;/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840480" y="3840480"/>
            <a:ext cx="5029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840480" y="3840480"/>
            <a:ext cx="54864" cy="82296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402336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480560" y="3913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params.json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480560" y="42428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One file per project: catalog name, schemas, tables, external locations, volumes, grant groups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Objects Provisioned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566160" y="960120"/>
            <a:ext cx="256032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566160" y="960120"/>
            <a:ext cx="54864" cy="86868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1612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0624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Catalog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206240" y="13898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CATALOG IF NOT EXISTS ...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188720" y="2103120"/>
            <a:ext cx="256032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88720" y="2103120"/>
            <a:ext cx="54864" cy="868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30428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Schemas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828800" y="25328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SCHEMA IF NOT EXISTS ...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4663440" y="2103120"/>
            <a:ext cx="256032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2103120"/>
            <a:ext cx="54864" cy="8686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30428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External Locations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303520" y="25328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EXTERNAL LOCATION IF NOT EXISTS ...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1188720" y="3246120"/>
            <a:ext cx="256032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188720" y="3246120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44728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288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Volumes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828800" y="36758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VOLUME IF NOT EXISTS ...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4663440" y="3246120"/>
            <a:ext cx="256032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63440" y="3246120"/>
            <a:ext cx="54864" cy="8686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447288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0352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Tables (Delta)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303520" y="36758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IF NOT EXISTS ... USING DELTA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3566160" y="4389120"/>
            <a:ext cx="256032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566160" y="438912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4590288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20624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Grants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206240" y="48188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USE CATALOG / USE SCHEMA / SELECT ...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4800600" y="1828800"/>
            <a:ext cx="0" cy="274320"/>
          </a:xfrm>
          <a:prstGeom prst="line">
            <a:avLst/>
          </a:prstGeom>
          <a:noFill/>
          <a:ln w="12700">
            <a:solidFill>
              <a:srgbClr val="AABCDF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2468880" y="1828800"/>
            <a:ext cx="2331720" cy="0"/>
          </a:xfrm>
          <a:prstGeom prst="line">
            <a:avLst/>
          </a:prstGeom>
          <a:noFill/>
          <a:ln w="12700">
            <a:solidFill>
              <a:srgbClr val="AABCD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468880" y="1828800"/>
            <a:ext cx="0" cy="274320"/>
          </a:xfrm>
          <a:prstGeom prst="line">
            <a:avLst/>
          </a:prstGeom>
          <a:noFill/>
          <a:ln w="12700">
            <a:solidFill>
              <a:srgbClr val="AABCD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800600" y="1828800"/>
            <a:ext cx="2331720" cy="0"/>
          </a:xfrm>
          <a:prstGeom prst="line">
            <a:avLst/>
          </a:prstGeom>
          <a:noFill/>
          <a:ln w="12700">
            <a:solidFill>
              <a:srgbClr val="AABCD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params.json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846320" cy="3931920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"catalog_name": "projectCTD_dev",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"schemas":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 "name": "raw",     "comment": "..."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 "name": "curated", "comment": "..."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"external_locations":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 "name": "ext_loc_raw",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"url": "abfss://raw@&lt;acct&gt;...",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"credential_name": "proj_cred"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"volumes":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 "schema": "raw", "name": "landing",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"type": "EXTERNAL",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"path": "abfss://raw@&lt;acct&gt;..."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"tables": [ { "schema":"raw",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"name":"customers", "columns":[...] }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"groups":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"data_engineering": "team@org.com",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"data_science":     "ds@org.com"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394960" y="96012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94960" y="960120"/>
            <a:ext cx="54864" cy="82296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430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1675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catalog_name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16752" y="13624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 Unity Catalog. Drive dev/prod by changing this one value.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94960" y="192024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94960" y="1920240"/>
            <a:ext cx="54864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031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16752" y="1993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016752" y="23225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List of schemas to create. Tables reference these by name.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394960" y="288036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94960" y="2880360"/>
            <a:ext cx="54864" cy="8229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0632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16752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external_locations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016752" y="3282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ADLS Gen2 paths + storage credential. Empty list = skipped.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394960" y="384048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394960" y="3840480"/>
            <a:ext cx="54864" cy="82296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402336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016752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016752" y="42428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Grant targets. Use AAD group email or individual service principals.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1600200"/>
          </a:xfrm>
          <a:prstGeom prst="rect">
            <a:avLst/>
          </a:prstGeom>
          <a:solidFill>
            <a:srgbClr val="1A2D6E"/>
          </a:solidFill>
          <a:ln w="12700">
            <a:solidFill>
              <a:srgbClr val="3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16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12161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Repeatable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73736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F5"/>
                </a:solidFill>
              </a:rPr>
              <a:t>Run the pipeline on any project just by adding a params.json. No UI clicks required.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1A2D6E"/>
          </a:solidFill>
          <a:ln w="12700">
            <a:solidFill>
              <a:srgbClr val="3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216152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86784" y="12161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Version Controlled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429000" y="173736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F5"/>
                </a:solidFill>
              </a:rPr>
              <a:t>Every schema, table, and grant definition lives in Git. Full audit trail via PR history.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17920" y="1051560"/>
            <a:ext cx="2651760" cy="1600200"/>
          </a:xfrm>
          <a:prstGeom prst="rect">
            <a:avLst/>
          </a:prstGeom>
          <a:solidFill>
            <a:srgbClr val="1A2D6E"/>
          </a:solidFill>
          <a:ln w="12700">
            <a:solidFill>
              <a:srgbClr val="3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216152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2864" y="12161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355080" y="173736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F5"/>
                </a:solidFill>
              </a:rPr>
              <a:t>Secrets (HOST, TOKEN, WAREHOUSE_ID) stored in Azure DevOps Library — never in code.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2926080"/>
            <a:ext cx="2651760" cy="1600200"/>
          </a:xfrm>
          <a:prstGeom prst="rect">
            <a:avLst/>
          </a:prstGeom>
          <a:solidFill>
            <a:srgbClr val="1A2D6E"/>
          </a:solidFill>
          <a:ln w="12700">
            <a:solidFill>
              <a:srgbClr val="3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090672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0704" y="3090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Idempotent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02920" y="361188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F5"/>
                </a:solidFill>
              </a:rPr>
              <a:t>All SQL uses IF NOT EXISTS. Safe to re-run; won't break existing objects.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91840" y="2926080"/>
            <a:ext cx="2651760" cy="1600200"/>
          </a:xfrm>
          <a:prstGeom prst="rect">
            <a:avLst/>
          </a:prstGeom>
          <a:solidFill>
            <a:srgbClr val="1A2D6E"/>
          </a:solidFill>
          <a:ln w="12700">
            <a:solidFill>
              <a:srgbClr val="3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090672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86784" y="3090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Extensible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429000" y="361188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F5"/>
                </a:solidFill>
              </a:rPr>
              <a:t>Add a new project by creating a new projects/&lt;NAME&gt;/params.json and updating PROJECT var.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217920" y="2926080"/>
            <a:ext cx="2651760" cy="1600200"/>
          </a:xfrm>
          <a:prstGeom prst="rect">
            <a:avLst/>
          </a:prstGeom>
          <a:solidFill>
            <a:srgbClr val="1A2D6E"/>
          </a:solidFill>
          <a:ln w="12700">
            <a:solidFill>
              <a:srgbClr val="3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090672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12864" y="3090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UC Best Practices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355080" y="361188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F5"/>
                </a:solidFill>
              </a:rPr>
              <a:t>USING DELTA, USE CATALOG/SCHEMA grants, three-part naming throughout.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</a:rPr>
              <a:t>Jinja2 + Python  vs  Databricks Asset Bundle (DAB)</a:t>
            </a:r>
          </a:p>
        </p:txBody>
      </p:sp>
      <p:sp>
        <p:nvSpPr>
          <p:cNvPr id="3" name="HdrFactor"/>
          <p:cNvSpPr/>
          <p:nvPr/>
        </p:nvSpPr>
        <p:spPr>
          <a:xfrm>
            <a:off x="457200" y="777240"/>
            <a:ext cx="1554480" cy="304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/>
              </a:rPr>
              <a:t>FACTOR</a:t>
            </a:r>
          </a:p>
        </p:txBody>
      </p:sp>
      <p:sp>
        <p:nvSpPr>
          <p:cNvPr id="4" name="HdrJinja"/>
          <p:cNvSpPr/>
          <p:nvPr/>
        </p:nvSpPr>
        <p:spPr>
          <a:xfrm>
            <a:off x="2072880" y="777240"/>
            <a:ext cx="3200400" cy="304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✔  Jinja2 + Python (Our Approach)</a:t>
            </a:r>
          </a:p>
        </p:txBody>
      </p:sp>
      <p:sp>
        <p:nvSpPr>
          <p:cNvPr id="5" name="HdrDab"/>
          <p:cNvSpPr/>
          <p:nvPr/>
        </p:nvSpPr>
        <p:spPr>
          <a:xfrm>
            <a:off x="5334480" y="777240"/>
            <a:ext cx="3267120" cy="30480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Databricks Asset Bundle (DAB)</a:t>
            </a:r>
          </a:p>
        </p:txBody>
      </p:sp>
      <p:sp>
        <p:nvSpPr>
          <p:cNvPr id="10" name="R1Bg"/>
          <p:cNvSpPr/>
          <p:nvPr/>
        </p:nvSpPr>
        <p:spPr>
          <a:xfrm>
            <a:off x="457200" y="1112040"/>
            <a:ext cx="814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F"/>
            </a:solidFill>
          </a:ln>
        </p:spPr>
      </p:sp>
      <p:sp>
        <p:nvSpPr>
          <p:cNvPr id="11" name="R1F"/>
          <p:cNvSpPr/>
          <p:nvPr/>
        </p:nvSpPr>
        <p:spPr>
          <a:xfrm>
            <a:off x="457200" y="11120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Learning Curve</a:t>
            </a:r>
          </a:p>
        </p:txBody>
      </p:sp>
      <p:sp>
        <p:nvSpPr>
          <p:cNvPr id="12" name="R1J"/>
          <p:cNvSpPr/>
          <p:nvPr/>
        </p:nvSpPr>
        <p:spPr>
          <a:xfrm>
            <a:off x="2072880" y="11120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7C10"/>
                </a:solidFill>
                <a:latin typeface="Calibri"/>
              </a:rPr>
              <a:t>✔  Low — plain Python &amp; SQL</a:t>
            </a:r>
          </a:p>
        </p:txBody>
      </p:sp>
      <p:sp>
        <p:nvSpPr>
          <p:cNvPr id="13" name="R1D"/>
          <p:cNvSpPr/>
          <p:nvPr/>
        </p:nvSpPr>
        <p:spPr>
          <a:xfrm>
            <a:off x="5334480" y="1112040"/>
            <a:ext cx="326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Calibri"/>
              </a:rPr>
              <a:t>✖  Medium-High — new DAB YAML schema</a:t>
            </a:r>
          </a:p>
        </p:txBody>
      </p:sp>
      <p:sp>
        <p:nvSpPr>
          <p:cNvPr id="20" name="R2Bg"/>
          <p:cNvSpPr/>
          <p:nvPr/>
        </p:nvSpPr>
        <p:spPr>
          <a:xfrm>
            <a:off x="457200" y="1386360"/>
            <a:ext cx="8144400" cy="274320"/>
          </a:xfrm>
          <a:prstGeom prst="rect">
            <a:avLst/>
          </a:prstGeom>
          <a:solidFill>
            <a:srgbClr val="EEF4FF"/>
          </a:solidFill>
          <a:ln w="9525">
            <a:solidFill>
              <a:srgbClr val="DDEAFF"/>
            </a:solidFill>
          </a:ln>
        </p:spPr>
      </p:sp>
      <p:sp>
        <p:nvSpPr>
          <p:cNvPr id="21" name="R2F"/>
          <p:cNvSpPr/>
          <p:nvPr/>
        </p:nvSpPr>
        <p:spPr>
          <a:xfrm>
            <a:off x="457200" y="1386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UC Object Support</a:t>
            </a:r>
          </a:p>
        </p:txBody>
      </p:sp>
      <p:sp>
        <p:nvSpPr>
          <p:cNvPr id="22" name="R2J"/>
          <p:cNvSpPr/>
          <p:nvPr/>
        </p:nvSpPr>
        <p:spPr>
          <a:xfrm>
            <a:off x="2072880" y="1386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7C10"/>
                </a:solidFill>
                <a:latin typeface="Calibri"/>
              </a:rPr>
              <a:t>✔  Full — catalog, schemas, tables, volumes, grants</a:t>
            </a:r>
          </a:p>
        </p:txBody>
      </p:sp>
      <p:sp>
        <p:nvSpPr>
          <p:cNvPr id="23" name="R2D"/>
          <p:cNvSpPr/>
          <p:nvPr/>
        </p:nvSpPr>
        <p:spPr>
          <a:xfrm>
            <a:off x="5334480" y="1386360"/>
            <a:ext cx="326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Calibri"/>
              </a:rPr>
              <a:t>✖  Partial — UC objects still maturing in DAB</a:t>
            </a:r>
          </a:p>
        </p:txBody>
      </p:sp>
      <p:sp>
        <p:nvSpPr>
          <p:cNvPr id="30" name="R3Bg"/>
          <p:cNvSpPr/>
          <p:nvPr/>
        </p:nvSpPr>
        <p:spPr>
          <a:xfrm>
            <a:off x="457200" y="1660680"/>
            <a:ext cx="814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F"/>
            </a:solidFill>
          </a:ln>
        </p:spPr>
      </p:sp>
      <p:sp>
        <p:nvSpPr>
          <p:cNvPr id="31" name="R3F"/>
          <p:cNvSpPr/>
          <p:nvPr/>
        </p:nvSpPr>
        <p:spPr>
          <a:xfrm>
            <a:off x="457200" y="1660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Portability</a:t>
            </a:r>
          </a:p>
        </p:txBody>
      </p:sp>
      <p:sp>
        <p:nvSpPr>
          <p:cNvPr id="32" name="R3J"/>
          <p:cNvSpPr/>
          <p:nvPr/>
        </p:nvSpPr>
        <p:spPr>
          <a:xfrm>
            <a:off x="2072880" y="1660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7C10"/>
                </a:solidFill>
                <a:latin typeface="Calibri"/>
              </a:rPr>
              <a:t>✔  Pure SQL — runs on any SQL endpoint</a:t>
            </a:r>
          </a:p>
        </p:txBody>
      </p:sp>
      <p:sp>
        <p:nvSpPr>
          <p:cNvPr id="33" name="R3D"/>
          <p:cNvSpPr/>
          <p:nvPr/>
        </p:nvSpPr>
        <p:spPr>
          <a:xfrm>
            <a:off x="5334480" y="1660680"/>
            <a:ext cx="326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Calibri"/>
              </a:rPr>
              <a:t>✖  Databricks-specific — tied to DAB CLI</a:t>
            </a:r>
          </a:p>
        </p:txBody>
      </p:sp>
      <p:sp>
        <p:nvSpPr>
          <p:cNvPr id="40" name="R4Bg"/>
          <p:cNvSpPr/>
          <p:nvPr/>
        </p:nvSpPr>
        <p:spPr>
          <a:xfrm>
            <a:off x="457200" y="1935000"/>
            <a:ext cx="8144400" cy="274320"/>
          </a:xfrm>
          <a:prstGeom prst="rect">
            <a:avLst/>
          </a:prstGeom>
          <a:solidFill>
            <a:srgbClr val="EEF4FF"/>
          </a:solidFill>
          <a:ln w="9525">
            <a:solidFill>
              <a:srgbClr val="DDEAFF"/>
            </a:solidFill>
          </a:ln>
        </p:spPr>
      </p:sp>
      <p:sp>
        <p:nvSpPr>
          <p:cNvPr id="41" name="R4F"/>
          <p:cNvSpPr/>
          <p:nvPr/>
        </p:nvSpPr>
        <p:spPr>
          <a:xfrm>
            <a:off x="457200" y="19350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Debuggability</a:t>
            </a:r>
          </a:p>
        </p:txBody>
      </p:sp>
      <p:sp>
        <p:nvSpPr>
          <p:cNvPr id="42" name="R4J"/>
          <p:cNvSpPr/>
          <p:nvPr/>
        </p:nvSpPr>
        <p:spPr>
          <a:xfrm>
            <a:off x="2072880" y="1935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7C10"/>
                </a:solidFill>
                <a:latin typeface="Calibri"/>
              </a:rPr>
              <a:t>✔  Read generated .sql files directly</a:t>
            </a:r>
          </a:p>
        </p:txBody>
      </p:sp>
      <p:sp>
        <p:nvSpPr>
          <p:cNvPr id="43" name="R4D"/>
          <p:cNvSpPr/>
          <p:nvPr/>
        </p:nvSpPr>
        <p:spPr>
          <a:xfrm>
            <a:off x="5334480" y="1935000"/>
            <a:ext cx="326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Calibri"/>
              </a:rPr>
              <a:t>✖  bundle validate — less transparent</a:t>
            </a:r>
          </a:p>
        </p:txBody>
      </p:sp>
      <p:sp>
        <p:nvSpPr>
          <p:cNvPr id="50" name="R5Bg"/>
          <p:cNvSpPr/>
          <p:nvPr/>
        </p:nvSpPr>
        <p:spPr>
          <a:xfrm>
            <a:off x="457200" y="2209320"/>
            <a:ext cx="814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F"/>
            </a:solidFill>
          </a:ln>
        </p:spPr>
      </p:sp>
      <p:sp>
        <p:nvSpPr>
          <p:cNvPr id="51" name="R5F"/>
          <p:cNvSpPr/>
          <p:nvPr/>
        </p:nvSpPr>
        <p:spPr>
          <a:xfrm>
            <a:off x="457200" y="22093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Idempotent</a:t>
            </a:r>
          </a:p>
        </p:txBody>
      </p:sp>
      <p:sp>
        <p:nvSpPr>
          <p:cNvPr id="52" name="R5J"/>
          <p:cNvSpPr/>
          <p:nvPr/>
        </p:nvSpPr>
        <p:spPr>
          <a:xfrm>
            <a:off x="2072880" y="2209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7C10"/>
                </a:solidFill>
                <a:latin typeface="Calibri"/>
              </a:rPr>
              <a:t>✔  IF NOT EXISTS on every statement</a:t>
            </a:r>
          </a:p>
        </p:txBody>
      </p:sp>
      <p:sp>
        <p:nvSpPr>
          <p:cNvPr id="53" name="R5D"/>
          <p:cNvSpPr/>
          <p:nvPr/>
        </p:nvSpPr>
        <p:spPr>
          <a:xfrm>
            <a:off x="5334480" y="2209320"/>
            <a:ext cx="326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Calibri"/>
              </a:rPr>
              <a:t>✖  Depends on object type; less consistent</a:t>
            </a:r>
          </a:p>
        </p:txBody>
      </p:sp>
      <p:sp>
        <p:nvSpPr>
          <p:cNvPr id="60" name="R6Bg"/>
          <p:cNvSpPr/>
          <p:nvPr/>
        </p:nvSpPr>
        <p:spPr>
          <a:xfrm>
            <a:off x="457200" y="2483640"/>
            <a:ext cx="8144400" cy="274320"/>
          </a:xfrm>
          <a:prstGeom prst="rect">
            <a:avLst/>
          </a:prstGeom>
          <a:solidFill>
            <a:srgbClr val="EEF4FF"/>
          </a:solidFill>
          <a:ln w="9525">
            <a:solidFill>
              <a:srgbClr val="DDEAFF"/>
            </a:solidFill>
          </a:ln>
        </p:spPr>
      </p:sp>
      <p:sp>
        <p:nvSpPr>
          <p:cNvPr id="61" name="R6F"/>
          <p:cNvSpPr/>
          <p:nvPr/>
        </p:nvSpPr>
        <p:spPr>
          <a:xfrm>
            <a:off x="457200" y="24836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/>
              </a:rPr>
              <a:t>Azure DevOps Fit</a:t>
            </a:r>
          </a:p>
        </p:txBody>
      </p:sp>
      <p:sp>
        <p:nvSpPr>
          <p:cNvPr id="62" name="R6J"/>
          <p:cNvSpPr/>
          <p:nvPr/>
        </p:nvSpPr>
        <p:spPr>
          <a:xfrm>
            <a:off x="2072880" y="2483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7C10"/>
                </a:solidFill>
                <a:latin typeface="Calibri"/>
              </a:rPr>
              <a:t>✔  Simple bash + REST API — no extra tooling</a:t>
            </a:r>
          </a:p>
        </p:txBody>
      </p:sp>
      <p:sp>
        <p:nvSpPr>
          <p:cNvPr id="63" name="R6D"/>
          <p:cNvSpPr/>
          <p:nvPr/>
        </p:nvSpPr>
        <p:spPr>
          <a:xfrm>
            <a:off x="5334480" y="2483640"/>
            <a:ext cx="326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Calibri"/>
              </a:rPr>
              <a:t>✖  DAB CLI required on every build agent</a:t>
            </a:r>
          </a:p>
        </p:txBody>
      </p:sp>
      <p:sp>
        <p:nvSpPr>
          <p:cNvPr id="70" name="R7Bg"/>
          <p:cNvSpPr/>
          <p:nvPr/>
        </p:nvSpPr>
        <p:spPr>
          <a:xfrm>
            <a:off x="457200" y="2757960"/>
            <a:ext cx="8144400" cy="3048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71" name="R7F"/>
          <p:cNvSpPr/>
          <p:nvPr/>
        </p:nvSpPr>
        <p:spPr>
          <a:xfrm>
            <a:off x="457200" y="2757960"/>
            <a:ext cx="155448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/>
              </a:rPr>
              <a:t>Best For</a:t>
            </a:r>
          </a:p>
        </p:txBody>
      </p:sp>
      <p:sp>
        <p:nvSpPr>
          <p:cNvPr id="72" name="R7J"/>
          <p:cNvSpPr/>
          <p:nvPr/>
        </p:nvSpPr>
        <p:spPr>
          <a:xfrm>
            <a:off x="2072880" y="2757960"/>
            <a:ext cx="320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8BB78"/>
                </a:solidFill>
                <a:latin typeface="Calibri"/>
              </a:rPr>
              <a:t>✔  UC object provisioning (this pipeline)</a:t>
            </a:r>
          </a:p>
        </p:txBody>
      </p:sp>
      <p:sp>
        <p:nvSpPr>
          <p:cNvPr id="73" name="R7D"/>
          <p:cNvSpPr/>
          <p:nvPr/>
        </p:nvSpPr>
        <p:spPr>
          <a:xfrm>
            <a:off x="5334480" y="2757960"/>
            <a:ext cx="326712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/>
              </a:rPr>
              <a:t>Jobs, DLT pipelines, notebooks, clusters</a:t>
            </a:r>
          </a:p>
        </p:txBody>
      </p:sp>
      <p:sp>
        <p:nvSpPr>
          <p:cNvPr id="80" name="VDiv1"/>
          <p:cNvSpPr/>
          <p:nvPr/>
        </p:nvSpPr>
        <p:spPr>
          <a:xfrm>
            <a:off x="2053080" y="777240"/>
            <a:ext cx="18288" cy="2285040"/>
          </a:xfrm>
          <a:prstGeom prst="rect">
            <a:avLst/>
          </a:prstGeom>
          <a:solidFill>
            <a:srgbClr val="DDEAFF"/>
          </a:solidFill>
          <a:ln>
            <a:noFill/>
          </a:ln>
        </p:spPr>
      </p:sp>
      <p:sp>
        <p:nvSpPr>
          <p:cNvPr id="81" name="VDiv2"/>
          <p:cNvSpPr/>
          <p:nvPr/>
        </p:nvSpPr>
        <p:spPr>
          <a:xfrm>
            <a:off x="5315880" y="777240"/>
            <a:ext cx="18288" cy="2285040"/>
          </a:xfrm>
          <a:prstGeom prst="rect">
            <a:avLst/>
          </a:prstGeom>
          <a:solidFill>
            <a:srgbClr val="DDEAFF"/>
          </a:solidFill>
          <a:ln>
            <a:noFill/>
          </a:ln>
        </p:spPr>
      </p:sp>
      <p:sp>
        <p:nvSpPr>
          <p:cNvPr id="90" name="VerdictBg"/>
          <p:cNvSpPr/>
          <p:nvPr/>
        </p:nvSpPr>
        <p:spPr>
          <a:xfrm>
            <a:off x="457200" y="3123720"/>
            <a:ext cx="8144400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</p:sp>
      <p:sp>
        <p:nvSpPr>
          <p:cNvPr id="91" name="VerdictLabel"/>
          <p:cNvSpPr/>
          <p:nvPr/>
        </p:nvSpPr>
        <p:spPr>
          <a:xfrm>
            <a:off x="548640" y="3160320"/>
            <a:ext cx="1006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CC00"/>
                </a:solidFill>
                <a:latin typeface="Calibri"/>
              </a:rPr>
              <a:t>💡 Verdict</a:t>
            </a:r>
          </a:p>
        </p:txBody>
      </p:sp>
      <p:sp>
        <p:nvSpPr>
          <p:cNvPr id="92" name="VerdictText"/>
          <p:cNvSpPr/>
          <p:nvPr/>
        </p:nvSpPr>
        <p:spPr>
          <a:xfrm>
            <a:off x="1645920" y="3137760"/>
            <a:ext cx="6956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/>
              </a:rPr>
              <a:t xml:space="preserve">Use </a:t>
            </a:r>
            <a:r>
              <a:rPr lang="en-US" sz="950" b="1" dirty="0">
                <a:solidFill>
                  <a:srgbClr val="48BB78"/>
                </a:solidFill>
                <a:latin typeface="Calibri"/>
              </a:rPr>
              <a:t>Jinja2</a:t>
            </a:r>
            <a:r>
              <a:rPr lang="en-US" sz="950" dirty="0">
                <a:solidFill>
                  <a:srgbClr val="FFFFFF"/>
                </a:solidFill>
                <a:latin typeface="Calibri"/>
              </a:rPr>
              <a:t xml:space="preserve"> for UC object provisioning (this pipeline).  Use </a:t>
            </a:r>
            <a:r>
              <a:rPr lang="en-US" sz="950" b="1" dirty="0">
                <a:solidFill>
                  <a:srgbClr val="FFCC00"/>
                </a:solidFill>
                <a:latin typeface="Calibri"/>
              </a:rPr>
              <a:t>DAB</a:t>
            </a:r>
            <a:r>
              <a:rPr lang="en-US" sz="950" dirty="0">
                <a:solidFill>
                  <a:srgbClr val="FFFFFF"/>
                </a:solidFill>
                <a:latin typeface="Calibri"/>
              </a:rPr>
              <a:t xml:space="preserve"> for jobs, DLT pipelines &amp; notebooks.  Both tools are complementary.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Databricks Unity Catalog – DevOps Pipeline Demo</dc:title>
  <dc:subject>PptxGenJS Presentation</dc:subject>
  <dc:creator>PptxGenJS</dc:creator>
  <cp:lastModifiedBy>PptxGenJS</cp:lastModifiedBy>
  <cp:revision>1</cp:revision>
  <dcterms:created xsi:type="dcterms:W3CDTF">2026-05-11T02:02:52Z</dcterms:created>
  <dcterms:modified xsi:type="dcterms:W3CDTF">2026-05-11T02:02:52Z</dcterms:modified>
</cp:coreProperties>
</file>